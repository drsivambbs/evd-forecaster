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Georgia"/>
              </a:rPr>
              <a:t>EVD Forecaster — Modelling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Five interactive steps  ·  Step 3 (SEIHFR) is optional  ·  Every input has a clickable DOI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1097280"/>
            <a:ext cx="7132320" cy="502920"/>
          </a:xfrm>
          <a:prstGeom prst="roundRect">
            <a:avLst>
              <a:gd name="adj" fmla="val 18000"/>
            </a:avLst>
          </a:prstGeom>
          <a:solidFill>
            <a:srgbClr val="FDF1E0"/>
          </a:solidFill>
          <a:ln w="12700">
            <a:solidFill>
              <a:srgbClr val="C9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 wrap="square"/>
          <a:lstStyle/>
          <a:p>
            <a:pPr algn="ctr"/>
            <a:r>
              <a:rPr sz="1300" b="1">
                <a:solidFill>
                  <a:srgbClr val="C97A1F"/>
                </a:solidFill>
                <a:latin typeface="Calibri"/>
              </a:rPr>
              <a:t>INPUT   </a:t>
            </a:r>
            <a:r>
              <a:rPr sz="1200">
                <a:solidFill>
                  <a:srgbClr val="2B2B2B"/>
                </a:solidFill>
                <a:latin typeface="Calibri"/>
              </a:rPr>
              <a:t>WHO Disease Outbreak News (DON) — cumulative confirmed / suspected / deaths per snapshot date</a:t>
            </a:r>
          </a:p>
        </p:txBody>
      </p:sp>
      <p:sp>
        <p:nvSpPr>
          <p:cNvPr id="5" name="Down Arrow 4"/>
          <p:cNvSpPr/>
          <p:nvPr/>
        </p:nvSpPr>
        <p:spPr>
          <a:xfrm>
            <a:off x="5303519" y="1600200"/>
            <a:ext cx="274320" cy="164592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4519" y="1764792"/>
            <a:ext cx="7132320" cy="502920"/>
          </a:xfrm>
          <a:prstGeom prst="roundRect">
            <a:avLst>
              <a:gd name="adj" fmla="val 18000"/>
            </a:avLst>
          </a:prstGeom>
          <a:solidFill>
            <a:srgbClr val="EEF2F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 wrap="square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STEP 1   </a:t>
            </a:r>
            <a:r>
              <a:rPr sz="1200">
                <a:solidFill>
                  <a:srgbClr val="2B2B2B"/>
                </a:solidFill>
                <a:latin typeface="Calibri"/>
              </a:rPr>
              <a:t>Daily incidence builder — back-extrapolate + linearly interpolate cumulative snapshots → daily new cases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303519" y="2267712"/>
            <a:ext cx="274320" cy="164592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2432304"/>
            <a:ext cx="7132320" cy="502920"/>
          </a:xfrm>
          <a:prstGeom prst="roundRect">
            <a:avLst>
              <a:gd name="adj" fmla="val 18000"/>
            </a:avLst>
          </a:prstGeom>
          <a:solidFill>
            <a:srgbClr val="EEF2F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 wrap="square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STEP 2   </a:t>
            </a:r>
            <a:r>
              <a:rPr sz="1200">
                <a:solidFill>
                  <a:srgbClr val="2B2B2B"/>
                </a:solidFill>
                <a:latin typeface="Calibri"/>
              </a:rPr>
              <a:t>R_t estimation (Cori 2013) — sliding-window Bayesian Gamma posterior; pick latest R_t for forecast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599" y="2432304"/>
            <a:ext cx="2743200" cy="502920"/>
          </a:xfrm>
          <a:prstGeom prst="roundRect">
            <a:avLst>
              <a:gd name="adj" fmla="val 18000"/>
            </a:avLst>
          </a:prstGeom>
          <a:solidFill>
            <a:srgbClr val="FDF1E0"/>
          </a:solidFill>
          <a:ln w="12700">
            <a:solidFill>
              <a:srgbClr val="C9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100" b="1">
                <a:solidFill>
                  <a:srgbClr val="C97A1F"/>
                </a:solidFill>
                <a:latin typeface="Calibri"/>
              </a:rPr>
              <a:t>STEP 3 (optional)
</a:t>
            </a:r>
            <a:r>
              <a:rPr sz="1100">
                <a:solidFill>
                  <a:srgbClr val="2B2B2B"/>
                </a:solidFill>
                <a:latin typeface="Calibri"/>
              </a:rPr>
              <a:t>SEIHFR — natural / no-intervention curve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06839" y="2683764"/>
            <a:ext cx="365760" cy="0"/>
          </a:xfrm>
          <a:prstGeom prst="bentConnector3">
            <a:avLst/>
          </a:prstGeom>
          <a:ln w="19050">
            <a:solidFill>
              <a:srgbClr val="1F4E7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own Arrow 10"/>
          <p:cNvSpPr/>
          <p:nvPr/>
        </p:nvSpPr>
        <p:spPr>
          <a:xfrm>
            <a:off x="5303519" y="2935224"/>
            <a:ext cx="274320" cy="164592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74519" y="3099816"/>
            <a:ext cx="7132320" cy="502920"/>
          </a:xfrm>
          <a:prstGeom prst="roundRect">
            <a:avLst>
              <a:gd name="adj" fmla="val 18000"/>
            </a:avLst>
          </a:prstGeom>
          <a:solidFill>
            <a:srgbClr val="EEF2F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 wrap="square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STEP 4   </a:t>
            </a:r>
            <a:r>
              <a:rPr sz="1200">
                <a:solidFill>
                  <a:srgbClr val="2B2B2B"/>
                </a:solidFill>
                <a:latin typeface="Calibri"/>
              </a:rPr>
              <a:t>Renewal-equation forecast (Nouvellet 2018) — 3 response scenarios with 90% PI bands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303519" y="3602736"/>
            <a:ext cx="274320" cy="164592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74519" y="3767328"/>
            <a:ext cx="7132320" cy="502920"/>
          </a:xfrm>
          <a:prstGeom prst="roundRect">
            <a:avLst>
              <a:gd name="adj" fmla="val 18000"/>
            </a:avLst>
          </a:prstGeom>
          <a:solidFill>
            <a:srgbClr val="EEF2F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 wrap="square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STEP 5   </a:t>
            </a:r>
            <a:r>
              <a:rPr sz="1200">
                <a:solidFill>
                  <a:srgbClr val="2B2B2B"/>
                </a:solidFill>
                <a:latin typeface="Calibri"/>
              </a:rPr>
              <a:t>End-of-outbreak predictor (Nishiura / Lloyd-Smith) — WHO 42-day &amp; Djaafara 63 + 90-day rules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303519" y="4270248"/>
            <a:ext cx="274320" cy="164592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4560" y="4434840"/>
            <a:ext cx="7772400" cy="502920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   </a:t>
            </a:r>
            <a:r>
              <a:rPr sz="1200">
                <a:solidFill>
                  <a:srgbClr val="FFFFFF"/>
                </a:solidFill>
                <a:latin typeface="Calibri"/>
              </a:rPr>
              <a:t>Formatted Excel report — Cover, Inputs (DOI links), embedded charts, results &amp;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Cori 2013 · Nouvellet 2018 · Legrand 2007 · Wamala 2010 · Lloyd-Smith 2005 · WHO 2014 NEJM · Djaafara 2021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